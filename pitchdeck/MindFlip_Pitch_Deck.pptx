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core promise: MindFlip does not just organize learning content. It transforms content into repeated, measurable practice that builds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around behavior, not content scarcity. The product wins by collapsing multiple learning jobs into one reinforcing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key differentiator is continuity: MindFlip closes the loop between generation, practice, performance data and the next best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activation moment: a learner brings material they already need to understand, and MindFlip turns it into structured practice without manual card creation.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MindFlip is not a static content generator. Ratings, quiz results and review timing continuously shape the next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features serve the learning habit. They provide different reasons to return: personal progress, fun, friendly competition and accountability.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broadens the value story without inventing a market size. The same core loop serves individual learners and gives educators or organizations more visibility and consistency.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comparison is category-level, not a claim about named competitors. MindFlip combines generation, adaptation, engagement and insight in one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product-readiness slide, not a technical deep dive. It shows that MindFlip supports the learning experience and the commercial/operational systems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simple value proposition. Invite the audience into the next conversation: pilot, partnership, investment or product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8B84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MINDFLIP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0863072" y="6547104"/>
            <a:ext cx="786384" cy="0"/>
          </a:xfrm>
          <a:prstGeom prst="line">
            <a:avLst/>
          </a:prstGeom>
          <a:noFill/>
          <a:ln w="12700">
            <a:solidFill>
              <a:srgbClr val="DCD8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B84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B84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2011680"/>
            <a:ext cx="6400800" cy="6400800"/>
          </a:xfrm>
          <a:prstGeom prst="ellipse">
            <a:avLst/>
          </a:prstGeom>
          <a:solidFill>
            <a:srgbClr val="7447E8">
              <a:alpha val="88000"/>
            </a:srgbClr>
          </a:solidFill>
          <a:ln w="12700">
            <a:solidFill>
              <a:srgbClr val="744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2926080"/>
            <a:ext cx="4389120" cy="4389120"/>
          </a:xfrm>
          <a:prstGeom prst="ellipse">
            <a:avLst/>
          </a:prstGeom>
          <a:solidFill>
            <a:srgbClr val="EC3D94">
              <a:alpha val="78000"/>
            </a:srgbClr>
          </a:solidFill>
          <a:ln w="12700">
            <a:solidFill>
              <a:srgbClr val="EC3D94">
                <a:alpha val="0"/>
              </a:srgbClr>
            </a:solidFill>
            <a:prstDash val="solid"/>
          </a:ln>
        </p:spPr>
      </p:sp>
      <p:pic>
        <p:nvPicPr>
          <p:cNvPr id="4" name="Image 0" descr="/home/lim-kam/Desktop/mind-flip-study/public/mindflip-logo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514600" cy="7498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572768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573A82"/>
          </a:solidFill>
          <a:ln w="12700">
            <a:solidFill>
              <a:srgbClr val="573A8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15727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D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PITCH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103120"/>
            <a:ext cx="6583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content into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confidence.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913632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A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AI-powered study platform that converts books into adaptive practice—and keeps learners coming back.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897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A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smarter. Remember longer.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52360" y="1097280"/>
            <a:ext cx="352044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99248" y="1298448"/>
            <a:ext cx="1234440" cy="320040"/>
          </a:xfrm>
          <a:prstGeom prst="roundRect">
            <a:avLst>
              <a:gd name="adj" fmla="val 48571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99248" y="12984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AI-GENERATED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699248" y="17190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drives photosynthesis?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28432" y="2633472"/>
            <a:ext cx="352044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28529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review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31638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cards due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10287000" y="3136392"/>
            <a:ext cx="841248" cy="320040"/>
          </a:xfrm>
          <a:prstGeom prst="roundRect">
            <a:avLst>
              <a:gd name="adj" fmla="val 48571"/>
            </a:avLst>
          </a:prstGeom>
          <a:solidFill>
            <a:srgbClr val="7447E8"/>
          </a:solidFill>
          <a:ln w="12700">
            <a:solidFill>
              <a:srgbClr val="7447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287000" y="3136392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60920" y="4443984"/>
            <a:ext cx="361188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62672" y="46451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day streak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680960" y="5047488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65008" y="5047488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49056" y="5047488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833104" y="5047488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17152" y="5047488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01200" y="5047488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985248" y="5047488"/>
            <a:ext cx="164592" cy="164592"/>
          </a:xfrm>
          <a:prstGeom prst="ellipse">
            <a:avLst/>
          </a:prstGeom>
          <a:solidFill>
            <a:srgbClr val="D9D4DF"/>
          </a:solidFill>
          <a:ln w="12700">
            <a:solidFill>
              <a:srgbClr val="D9D4D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content has not created better learning.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Learners are surrounded by information—but still struggle to turn it into durable knowledge.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24028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22402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Passive consumption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224028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and highlighting feel productive, but rarely create enough retrieval practice.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2999232"/>
            <a:ext cx="10561320" cy="0"/>
          </a:xfrm>
          <a:prstGeom prst="line">
            <a:avLst/>
          </a:prstGeom>
          <a:noFill/>
          <a:ln w="12700">
            <a:solidFill>
              <a:srgbClr val="DED9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340156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C3D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34015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tools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4015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Notes, flashcards, quizzes, games and analytics live in separate products and workflows.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4160520"/>
            <a:ext cx="10561320" cy="0"/>
          </a:xfrm>
          <a:prstGeom prst="line">
            <a:avLst/>
          </a:prstGeom>
          <a:noFill/>
          <a:ln w="12700">
            <a:solidFill>
              <a:srgbClr val="DED9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456285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A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56285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 decays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56285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visible progress, timely reminders and social momentum, consistency disappears.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" y="5321808"/>
            <a:ext cx="10561320" cy="0"/>
          </a:xfrm>
          <a:prstGeom prst="line">
            <a:avLst/>
          </a:prstGeom>
          <a:noFill/>
          <a:ln w="12700">
            <a:solidFill>
              <a:srgbClr val="DED9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5788152"/>
            <a:ext cx="10561320" cy="475488"/>
          </a:xfrm>
          <a:prstGeom prst="roundRect">
            <a:avLst>
              <a:gd name="adj" fmla="val 30769"/>
            </a:avLst>
          </a:prstGeom>
          <a:solidFill>
            <a:srgbClr val="20152E"/>
          </a:solidFill>
          <a:ln w="12700">
            <a:solidFill>
              <a:srgbClr val="2015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578815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 is not access to information. It is turning information into a habit of active recall.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B84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continuous loop from source material to mastery.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MindFlip removes setup friction, adapts practice, and makes progress visible.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993392" cy="2331720"/>
          </a:xfrm>
          <a:prstGeom prst="roundRect">
            <a:avLst>
              <a:gd name="adj" fmla="val 8257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" y="2633472"/>
            <a:ext cx="658368" cy="6583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2144" y="2633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349300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30" kern="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3877056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a book or learning material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32888" y="316382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07208" y="2331720"/>
            <a:ext cx="1993392" cy="2331720"/>
          </a:xfrm>
          <a:prstGeom prst="roundRect">
            <a:avLst>
              <a:gd name="adj" fmla="val 8257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2633472"/>
            <a:ext cx="658368" cy="6583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56432" y="2633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008376" y="349300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30" kern="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008376" y="3877056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cards, summaries &amp; quizzes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16382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2331720"/>
            <a:ext cx="1993392" cy="2331720"/>
          </a:xfrm>
          <a:prstGeom prst="roundRect">
            <a:avLst>
              <a:gd name="adj" fmla="val 8257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2633472"/>
            <a:ext cx="658368" cy="6583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2633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5312664" y="349300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30" kern="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312664" y="3877056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Review, play and test recall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41464" y="316382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15784" y="2331720"/>
            <a:ext cx="1993392" cy="2331720"/>
          </a:xfrm>
          <a:prstGeom prst="roundRect">
            <a:avLst>
              <a:gd name="adj" fmla="val 8257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65008" y="2633472"/>
            <a:ext cx="658368" cy="6583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65008" y="2633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616952" y="349300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30" kern="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616952" y="3877056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weak topics automatically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45752" y="316382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720072" y="2331720"/>
            <a:ext cx="1993392" cy="2331720"/>
          </a:xfrm>
          <a:prstGeom prst="roundRect">
            <a:avLst>
              <a:gd name="adj" fmla="val 8257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69296" y="2633472"/>
            <a:ext cx="658368" cy="6583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69296" y="2633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9921240" y="349300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30" kern="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921240" y="3877056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streaks, scores &amp; achievements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5230368"/>
            <a:ext cx="4800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time building a study system.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6446520" y="5230368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time actually learning.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B84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SPOTLIGHT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content becomes an instant study system.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handles the heavy setup work while the learner stays in control.</a:t>
            </a:r>
            <a:endParaRPr lang="en-US" sz="1300" dirty="0"/>
          </a:p>
        </p:txBody>
      </p:sp>
      <p:pic>
        <p:nvPicPr>
          <p:cNvPr id="5" name="Image 0" descr="/home/lim-kam/Desktop/mind-flip-study/public/login-learning-hero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57400"/>
            <a:ext cx="5074920" cy="35478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4535424"/>
            <a:ext cx="4526280" cy="749808"/>
          </a:xfrm>
          <a:prstGeom prst="roundRect">
            <a:avLst>
              <a:gd name="adj" fmla="val 18293"/>
            </a:avLst>
          </a:prstGeom>
          <a:solidFill>
            <a:srgbClr val="20152E">
              <a:alpha val="95000"/>
            </a:srgbClr>
          </a:solidFill>
          <a:ln w="12700">
            <a:solidFill>
              <a:srgbClr val="20152E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69848" y="4690872"/>
            <a:ext cx="4050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once. Practice in multiple ways.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080760" y="2167128"/>
            <a:ext cx="164592" cy="164592"/>
          </a:xfrm>
          <a:prstGeom prst="ellipse">
            <a:avLst/>
          </a:prstGeom>
          <a:solidFill>
            <a:srgbClr val="7447E8"/>
          </a:solidFill>
          <a:ln w="12700">
            <a:solidFill>
              <a:srgbClr val="7447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9088" y="20482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ingestion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19088" y="235000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books, edit the table of contents and organize a reusable library.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80760" y="3099816"/>
            <a:ext cx="164592" cy="164592"/>
          </a:xfrm>
          <a:prstGeom prst="ellipse">
            <a:avLst/>
          </a:prstGeom>
          <a:solidFill>
            <a:srgbClr val="EC3D94"/>
          </a:solidFill>
          <a:ln w="12700">
            <a:solidFill>
              <a:srgbClr val="EC3D9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9088" y="2980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Multi-format generation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19088" y="328269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flashcards, summaries, scenarios and quizzes from selected chapters.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80760" y="4032504"/>
            <a:ext cx="164592" cy="164592"/>
          </a:xfrm>
          <a:prstGeom prst="ellipse">
            <a:avLst/>
          </a:prstGeom>
          <a:solidFill>
            <a:srgbClr val="2E94E8"/>
          </a:solidFill>
          <a:ln w="12700">
            <a:solidFill>
              <a:srgbClr val="2E94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9088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Asynchronous workflow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19088" y="421538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moving while generation runs, with progress and status visible.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80760" y="4965192"/>
            <a:ext cx="164592" cy="164592"/>
          </a:xfrm>
          <a:prstGeom prst="ellipse">
            <a:avLst/>
          </a:prstGeom>
          <a:solidFill>
            <a:srgbClr val="2BAE83"/>
          </a:solidFill>
          <a:ln w="12700">
            <a:solidFill>
              <a:srgbClr val="2BAE8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9088" y="4846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Regenerate with intent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19088" y="514807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scenarios or focus practice on the material that matters now.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B84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SPOTLIGHT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that changes with the learner.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interaction becomes a signal for what to review next.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51376" y="2103120"/>
            <a:ext cx="3886200" cy="3127248"/>
          </a:xfrm>
          <a:prstGeom prst="roundRect">
            <a:avLst>
              <a:gd name="adj" fmla="val 6433"/>
            </a:avLst>
          </a:prstGeom>
          <a:solidFill>
            <a:srgbClr val="FFFFFF"/>
          </a:solidFill>
          <a:ln w="12700">
            <a:solidFill>
              <a:srgbClr val="CDC4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53128" y="2414016"/>
            <a:ext cx="1115568" cy="320040"/>
          </a:xfrm>
          <a:prstGeom prst="roundRect">
            <a:avLst>
              <a:gd name="adj" fmla="val 48571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53128" y="241401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 08 / 24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453128" y="294436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difference between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mitosis and meiosis.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956048" y="3931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 to reveal answer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07408" y="4480560"/>
            <a:ext cx="713232" cy="320040"/>
          </a:xfrm>
          <a:prstGeom prst="roundRect">
            <a:avLst>
              <a:gd name="adj" fmla="val 48571"/>
            </a:avLst>
          </a:prstGeom>
          <a:solidFill>
            <a:srgbClr val="EC3D94"/>
          </a:solidFill>
          <a:ln w="12700">
            <a:solidFill>
              <a:srgbClr val="EC3D9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07408" y="4480560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39512" y="4480560"/>
            <a:ext cx="713232" cy="320040"/>
          </a:xfrm>
          <a:prstGeom prst="roundRect">
            <a:avLst>
              <a:gd name="adj" fmla="val 4857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39512" y="4480560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4480560"/>
            <a:ext cx="713232" cy="320040"/>
          </a:xfrm>
          <a:prstGeom prst="roundRect">
            <a:avLst>
              <a:gd name="adj" fmla="val 48571"/>
            </a:avLst>
          </a:prstGeom>
          <a:solidFill>
            <a:srgbClr val="2BAE83"/>
          </a:solidFill>
          <a:ln w="12700">
            <a:solidFill>
              <a:srgbClr val="2BAE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71616" y="4480560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4480560"/>
            <a:ext cx="713232" cy="320040"/>
          </a:xfrm>
          <a:prstGeom prst="roundRect">
            <a:avLst>
              <a:gd name="adj" fmla="val 48571"/>
            </a:avLst>
          </a:prstGeom>
          <a:solidFill>
            <a:srgbClr val="7447E8"/>
          </a:solidFill>
          <a:ln w="12700">
            <a:solidFill>
              <a:srgbClr val="7447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4480560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2331720"/>
            <a:ext cx="283464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251460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Spaced repetition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" y="281635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Schedules review based on memory strength.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3749040"/>
            <a:ext cx="283464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393192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review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423367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Surfaces due cards in one focused queue.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723376" y="2331720"/>
            <a:ext cx="283464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0" y="251460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Weak-topic detection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281635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quiz performance to highlight gaps.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723376" y="3749040"/>
            <a:ext cx="283464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0" y="393192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progress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0" y="423367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study moving and syncs when connected.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B84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SPOTLIGHT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people want to return to.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 is designed into the experience—not bolted on afterward.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" y="2157984"/>
            <a:ext cx="3456432" cy="1344168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4086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🔥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2322576"/>
            <a:ext cx="2267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STREAKS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65176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consistency into a visible daily win.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25696" y="2157984"/>
            <a:ext cx="3456432" cy="1344168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34086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🏆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266944" y="2322576"/>
            <a:ext cx="2267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66944" y="265176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Celebrate meaningful milestones and mastery.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47888" y="2157984"/>
            <a:ext cx="3456432" cy="1344168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67344" y="234086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⚔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089136" y="2322576"/>
            <a:ext cx="2267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089136" y="265176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 peers, compare results and create urgency.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" y="3822192"/>
            <a:ext cx="3456432" cy="1344168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0050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🎮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444752" y="3986784"/>
            <a:ext cx="2267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GAMES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44752" y="431596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through memory match, lightning rounds, RPG battles and more.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25696" y="3822192"/>
            <a:ext cx="3456432" cy="1344168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45152" y="40050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5266944" y="3986784"/>
            <a:ext cx="2267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266944" y="431596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shared goals, collect materials and learn together.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47888" y="3822192"/>
            <a:ext cx="3456432" cy="1344168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67344" y="40050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📊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9089136" y="3986784"/>
            <a:ext cx="2267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SCORECARDS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89136" y="431596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progress into a clear, shareable story.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5678424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outcome: a stronger habit loop—cue, practice, reward, repeat.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B84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platform. Clear value for every learning stakeholder.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shared system connects individual practice with the people supporting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2121408"/>
            <a:ext cx="3456432" cy="3429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121408"/>
            <a:ext cx="3456432" cy="91440"/>
          </a:xfrm>
          <a:prstGeom prst="rect">
            <a:avLst/>
          </a:prstGeom>
          <a:solidFill>
            <a:srgbClr val="7447E8"/>
          </a:solidFill>
          <a:ln w="12700">
            <a:solidFill>
              <a:srgbClr val="7447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432304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25496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faster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46120"/>
            <a:ext cx="2944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required reading into active practice; know what to review; stay motivated.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6112" y="4343400"/>
            <a:ext cx="109728" cy="109728"/>
          </a:xfrm>
          <a:prstGeom prst="ellipse">
            <a:avLst/>
          </a:prstGeom>
          <a:solidFill>
            <a:srgbClr val="7447E8"/>
          </a:solidFill>
          <a:ln w="12700">
            <a:solidFill>
              <a:srgbClr val="7447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24712" y="426110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study sets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6112" y="4672584"/>
            <a:ext cx="109728" cy="109728"/>
          </a:xfrm>
          <a:prstGeom prst="ellipse">
            <a:avLst/>
          </a:prstGeom>
          <a:solidFill>
            <a:srgbClr val="7447E8"/>
          </a:solidFill>
          <a:ln w="12700">
            <a:solidFill>
              <a:srgbClr val="7447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24712" y="45902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review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6112" y="5001768"/>
            <a:ext cx="109728" cy="109728"/>
          </a:xfrm>
          <a:prstGeom prst="ellipse">
            <a:avLst/>
          </a:prstGeom>
          <a:solidFill>
            <a:srgbClr val="7447E8"/>
          </a:solidFill>
          <a:ln w="12700">
            <a:solidFill>
              <a:srgbClr val="7447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24712" y="49194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Games &amp; streaks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62272" y="2121408"/>
            <a:ext cx="3456432" cy="3429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62272" y="2121408"/>
            <a:ext cx="3456432" cy="91440"/>
          </a:xfrm>
          <a:prstGeom prst="rect">
            <a:avLst/>
          </a:prstGeom>
          <a:solidFill>
            <a:srgbClr val="EC3D94"/>
          </a:solidFill>
          <a:ln w="12700">
            <a:solidFill>
              <a:srgbClr val="EC3D9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432304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EC3D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EDUCATORS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2825496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the gaps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3246120"/>
            <a:ext cx="2944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outcomes, guide attention and support learners with evidence—not guesswork.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36592" y="4343400"/>
            <a:ext cx="109728" cy="109728"/>
          </a:xfrm>
          <a:prstGeom prst="ellipse">
            <a:avLst/>
          </a:prstGeom>
          <a:solidFill>
            <a:srgbClr val="EC3D94"/>
          </a:solidFill>
          <a:ln w="12700">
            <a:solidFill>
              <a:srgbClr val="EC3D9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65192" y="426110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36592" y="4672584"/>
            <a:ext cx="109728" cy="109728"/>
          </a:xfrm>
          <a:prstGeom prst="ellipse">
            <a:avLst/>
          </a:prstGeom>
          <a:solidFill>
            <a:srgbClr val="EC3D94"/>
          </a:solidFill>
          <a:ln w="12700">
            <a:solidFill>
              <a:srgbClr val="EC3D9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65192" y="45902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36592" y="5001768"/>
            <a:ext cx="109728" cy="109728"/>
          </a:xfrm>
          <a:prstGeom prst="ellipse">
            <a:avLst/>
          </a:prstGeom>
          <a:solidFill>
            <a:srgbClr val="EC3D94"/>
          </a:solidFill>
          <a:ln w="12700">
            <a:solidFill>
              <a:srgbClr val="EC3D9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65192" y="49194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Scorecards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302752" y="2121408"/>
            <a:ext cx="3456432" cy="3429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02752" y="2121408"/>
            <a:ext cx="3456432" cy="91440"/>
          </a:xfrm>
          <a:prstGeom prst="rect">
            <a:avLst/>
          </a:prstGeom>
          <a:solidFill>
            <a:srgbClr val="2BAE83"/>
          </a:solidFill>
          <a:ln w="12700">
            <a:solidFill>
              <a:srgbClr val="2BAE8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49640" y="2432304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2BA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549640" y="2825496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support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549640" y="3246120"/>
            <a:ext cx="2944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a consistent learning workflow across users, content and devices.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77072" y="4343400"/>
            <a:ext cx="109728" cy="109728"/>
          </a:xfrm>
          <a:prstGeom prst="ellipse">
            <a:avLst/>
          </a:prstGeom>
          <a:solidFill>
            <a:srgbClr val="2BAE83"/>
          </a:solidFill>
          <a:ln w="12700">
            <a:solidFill>
              <a:srgbClr val="2BAE8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805672" y="426110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management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577072" y="4672584"/>
            <a:ext cx="109728" cy="109728"/>
          </a:xfrm>
          <a:prstGeom prst="ellipse">
            <a:avLst/>
          </a:prstGeom>
          <a:solidFill>
            <a:srgbClr val="2BAE83"/>
          </a:solidFill>
          <a:ln w="12700">
            <a:solidFill>
              <a:srgbClr val="2BAE8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805672" y="45902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goals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577072" y="5001768"/>
            <a:ext cx="109728" cy="109728"/>
          </a:xfrm>
          <a:prstGeom prst="ellipse">
            <a:avLst/>
          </a:prstGeom>
          <a:solidFill>
            <a:srgbClr val="2BAE83"/>
          </a:solidFill>
          <a:ln w="12700">
            <a:solidFill>
              <a:srgbClr val="2BAE8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805672" y="49194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+ web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B84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MINDFLIP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difference is the connected system.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tools solve one moment. MindFlip connects the entire learning journey.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46520" y="2103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MINDFLIP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001000" y="20116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CONTENT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738360" y="20116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FLASHCARD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2551176"/>
            <a:ext cx="10954512" cy="393192"/>
          </a:xfrm>
          <a:prstGeom prst="rect">
            <a:avLst/>
          </a:prstGeom>
          <a:solidFill>
            <a:srgbClr val="F0EDF5"/>
          </a:solidFill>
          <a:ln w="12700">
            <a:solidFill>
              <a:srgbClr val="F0E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5786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your own material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5786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3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738360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3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017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AI-generated practice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017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3017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3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738360" y="3017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3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" y="3429000"/>
            <a:ext cx="10954512" cy="393192"/>
          </a:xfrm>
          <a:prstGeom prst="rect">
            <a:avLst/>
          </a:prstGeom>
          <a:solidFill>
            <a:srgbClr val="F0EDF5"/>
          </a:solidFill>
          <a:ln w="12700">
            <a:solidFill>
              <a:srgbClr val="F0ED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4564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daily review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4564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3456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3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38360" y="3456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3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8953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Quizzes + multiple games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38953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38953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3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738360" y="38953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3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4306824"/>
            <a:ext cx="10954512" cy="393192"/>
          </a:xfrm>
          <a:prstGeom prst="rect">
            <a:avLst/>
          </a:prstGeom>
          <a:solidFill>
            <a:srgbClr val="F0EDF5"/>
          </a:solidFill>
          <a:ln w="12700">
            <a:solidFill>
              <a:srgbClr val="F0ED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3342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Challenges, groups &amp; leaderboards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43342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0" y="43342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3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738360" y="43342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3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47731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+ shareable scorecards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47731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001000" y="47731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3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9738360" y="47731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3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21792" y="5184648"/>
            <a:ext cx="10954512" cy="393192"/>
          </a:xfrm>
          <a:prstGeom prst="rect">
            <a:avLst/>
          </a:prstGeom>
          <a:solidFill>
            <a:srgbClr val="F0EDF5"/>
          </a:solidFill>
          <a:ln w="12700">
            <a:solidFill>
              <a:srgbClr val="F0ED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5212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Installable, offline-capable experience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5212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001000" y="5212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3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9738360" y="5212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3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526280" y="5852160"/>
            <a:ext cx="3127248" cy="320040"/>
          </a:xfrm>
          <a:prstGeom prst="roundRect">
            <a:avLst>
              <a:gd name="adj" fmla="val 48571"/>
            </a:avLst>
          </a:prstGeom>
          <a:solidFill>
            <a:srgbClr val="20152E"/>
          </a:solidFill>
          <a:ln w="12700">
            <a:solidFill>
              <a:srgbClr val="20152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26280" y="585216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EXPERIENCE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B84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TO DELIVER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product foundation ready for real learning behavior.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MindFlip pairs a polished learner experience with the operational capabilities needed to grow.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10771632" cy="749808"/>
          </a:xfrm>
          <a:prstGeom prst="roundRect">
            <a:avLst>
              <a:gd name="adj" fmla="val 15854"/>
            </a:avLst>
          </a:prstGeom>
          <a:solidFill>
            <a:srgbClr val="EEE8FF"/>
          </a:solidFill>
          <a:ln w="12700">
            <a:solidFill>
              <a:srgbClr val="CFC0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18541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1671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web + installable PWA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16712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Mobile-aware navigation • dark mode • offline progress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3017520"/>
            <a:ext cx="10771632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14553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EC3D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ENGINE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31272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generation + adaptive practice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312724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Chapter-aware generation • spaced repetition • weak-topic insights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3977640"/>
            <a:ext cx="10771632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410565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4087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 + community loops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408736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 • streaks • achievements • challenges • groups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4937760"/>
            <a:ext cx="10771632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DED9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" y="50657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2BA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5047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Plans, usage and observability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504748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Entitlements • credits • billing • admin analytics • automation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5980176"/>
            <a:ext cx="9829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the full lifecycle: activate → learn → retain → expand.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B84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0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474720"/>
            <a:ext cx="5486400" cy="5486400"/>
          </a:xfrm>
          <a:prstGeom prst="ellipse">
            <a:avLst/>
          </a:prstGeom>
          <a:solidFill>
            <a:srgbClr val="7447E8">
              <a:alpha val="72000"/>
            </a:srgbClr>
          </a:solidFill>
          <a:ln w="12700">
            <a:solidFill>
              <a:srgbClr val="744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828800"/>
            <a:ext cx="4937760" cy="4937760"/>
          </a:xfrm>
          <a:prstGeom prst="ellipse">
            <a:avLst/>
          </a:prstGeom>
          <a:solidFill>
            <a:srgbClr val="EC3D94">
              <a:alpha val="70000"/>
            </a:srgbClr>
          </a:solidFill>
          <a:ln w="12700">
            <a:solidFill>
              <a:srgbClr val="EC3D94">
                <a:alpha val="0"/>
              </a:srgbClr>
            </a:solidFill>
            <a:prstDash val="solid"/>
          </a:ln>
        </p:spPr>
      </p:sp>
      <p:pic>
        <p:nvPicPr>
          <p:cNvPr id="4" name="Image 0" descr="/home/lim-kam/Desktop/mind-flip-study/public/mindfli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30352"/>
            <a:ext cx="658368" cy="6583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44752" y="630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spc="1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MINDFLIP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600200"/>
            <a:ext cx="6766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every study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count.</a:t>
            </a:r>
            <a:endParaRPr lang="en-US" sz="39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3401568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A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content into practice.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A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practice into confidence.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543800" y="1572768"/>
            <a:ext cx="3611880" cy="363931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09560" y="1947672"/>
            <a:ext cx="2514600" cy="320040"/>
          </a:xfrm>
          <a:prstGeom prst="roundRect">
            <a:avLst>
              <a:gd name="adj" fmla="val 48571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09560" y="19476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MINDFLIP PROMISE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257860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setup.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312724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Smarter practice.</a:t>
            </a:r>
            <a:endParaRPr lang="en-US" sz="23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367588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progress.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7909560" y="4352544"/>
            <a:ext cx="2761488" cy="0"/>
          </a:xfrm>
          <a:prstGeom prst="line">
            <a:avLst/>
          </a:prstGeom>
          <a:noFill/>
          <a:ln w="12700">
            <a:solidFill>
              <a:srgbClr val="DED9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45537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44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to flip the way learning works?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" y="6144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BA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pitch •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MindFlip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MindFlip — Turn content into confidence</dc:title>
  <dc:subject>MindFlip product pitch deck</dc:subject>
  <dc:creator>MindFlip</dc:creator>
  <cp:lastModifiedBy>MindFlip</cp:lastModifiedBy>
  <cp:revision>1</cp:revision>
  <dcterms:created xsi:type="dcterms:W3CDTF">2026-08-05T06:22:47Z</dcterms:created>
  <dcterms:modified xsi:type="dcterms:W3CDTF">2026-08-05T06:22:47Z</dcterms:modified>
</cp:coreProperties>
</file>